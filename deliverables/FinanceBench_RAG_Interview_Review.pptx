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d3271b35743c2" /><Relationship Type="http://schemas.openxmlformats.org/officeDocument/2006/relationships/extended-properties" Target="/docProps/app.xml" Id="Rafb96f2b04724e32" /><Relationship Type="http://schemas.openxmlformats.org/officeDocument/2006/relationships/officeDocument" Target="/ppt/presentation.xml" Id="R9a17c55c8431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8be42cd33c4028"/>
  </p:sldMasterIdLst>
  <p:notesMasterIdLst>
    <p:notesMasterId xmlns:r="http://schemas.openxmlformats.org/officeDocument/2006/relationships" r:id="R1f06c4374c8f4c31"/>
  </p:notesMasterIdLst>
  <p:sldIdLst>
    <p:sldId xmlns:r="http://schemas.openxmlformats.org/officeDocument/2006/relationships" id="256" r:id="R98ed86917a1c4b57"/>
    <p:sldId xmlns:r="http://schemas.openxmlformats.org/officeDocument/2006/relationships" id="257" r:id="Rd236689d82874c59"/>
    <p:sldId xmlns:r="http://schemas.openxmlformats.org/officeDocument/2006/relationships" id="258" r:id="R8c3fdf11a5a04506"/>
    <p:sldId xmlns:r="http://schemas.openxmlformats.org/officeDocument/2006/relationships" id="259" r:id="R515d6dee9ddd4934"/>
    <p:sldId xmlns:r="http://schemas.openxmlformats.org/officeDocument/2006/relationships" id="260" r:id="Re865074a62344e0a"/>
    <p:sldId xmlns:r="http://schemas.openxmlformats.org/officeDocument/2006/relationships" id="261" r:id="Rb3e2fc6960774cd0"/>
    <p:sldId xmlns:r="http://schemas.openxmlformats.org/officeDocument/2006/relationships" id="262" r:id="Rf1b6474612d84d80"/>
    <p:sldId xmlns:r="http://schemas.openxmlformats.org/officeDocument/2006/relationships" id="263" r:id="Rb7b2454187e846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093ec8f6c54c3b" /><Relationship Type="http://schemas.openxmlformats.org/officeDocument/2006/relationships/slideMaster" Target="/ppt/slideMasters/slideMaster1.xml" Id="Raf8be42cd33c4028" /><Relationship Type="http://schemas.openxmlformats.org/officeDocument/2006/relationships/notesMaster" Target="/ppt/notesMasters/notesMaster1.xml" Id="R1f06c4374c8f4c31" /><Relationship Type="http://schemas.openxmlformats.org/officeDocument/2006/relationships/presProps" Target="/ppt/presProps.xml" Id="R55811282ebe249b3" /><Relationship Type="http://schemas.openxmlformats.org/officeDocument/2006/relationships/tableStyles" Target="/ppt/tableStyles.xml" Id="R2fadcf89ae5b436b" /><Relationship Type="http://schemas.openxmlformats.org/officeDocument/2006/relationships/slide" Target="/ppt/slides/slide1.xml" Id="R98ed86917a1c4b57" /><Relationship Type="http://schemas.openxmlformats.org/officeDocument/2006/relationships/slide" Target="/ppt/slides/slide2.xml" Id="Rd236689d82874c59" /><Relationship Type="http://schemas.openxmlformats.org/officeDocument/2006/relationships/slide" Target="/ppt/slides/slide3.xml" Id="R8c3fdf11a5a04506" /><Relationship Type="http://schemas.openxmlformats.org/officeDocument/2006/relationships/slide" Target="/ppt/slides/slide4.xml" Id="R515d6dee9ddd4934" /><Relationship Type="http://schemas.openxmlformats.org/officeDocument/2006/relationships/slide" Target="/ppt/slides/slide5.xml" Id="Re865074a62344e0a" /><Relationship Type="http://schemas.openxmlformats.org/officeDocument/2006/relationships/slide" Target="/ppt/slides/slide6.xml" Id="Rb3e2fc6960774cd0" /><Relationship Type="http://schemas.openxmlformats.org/officeDocument/2006/relationships/slide" Target="/ppt/slides/slide7.xml" Id="Rf1b6474612d84d80" /><Relationship Type="http://schemas.openxmlformats.org/officeDocument/2006/relationships/slide" Target="/ppt/slides/slide8.xml" Id="Rb7b2454187e8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f016160221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6f6d4bebf42c1" /><Relationship Type="http://schemas.openxmlformats.org/officeDocument/2006/relationships/notesMaster" Target="/ppt/notesMasters/notesMaster1.xml" Id="R2d10f2c66bc748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7050db67da4e5b" /><Relationship Type="http://schemas.openxmlformats.org/officeDocument/2006/relationships/notesMaster" Target="/ppt/notesMasters/notesMaster1.xml" Id="R73485f3d3b43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ffb85d35f4b82" /><Relationship Type="http://schemas.openxmlformats.org/officeDocument/2006/relationships/notesMaster" Target="/ppt/notesMasters/notesMaster1.xml" Id="R59df5329749943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1fef4b35254940" /><Relationship Type="http://schemas.openxmlformats.org/officeDocument/2006/relationships/notesMaster" Target="/ppt/notesMasters/notesMaster1.xml" Id="R4ceffc1b42b6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ada7b7acd4917" /><Relationship Type="http://schemas.openxmlformats.org/officeDocument/2006/relationships/notesMaster" Target="/ppt/notesMasters/notesMaster1.xml" Id="R7f3fec1c06b44a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bc9aeb6334be3" /><Relationship Type="http://schemas.openxmlformats.org/officeDocument/2006/relationships/notesMaster" Target="/ppt/notesMasters/notesMaster1.xml" Id="Rcba7720dd0284b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9e4b8dd17448ef" /><Relationship Type="http://schemas.openxmlformats.org/officeDocument/2006/relationships/notesMaster" Target="/ppt/notesMasters/notesMaster1.xml" Id="R1f51dd9f20c7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3f8caf67094418" /><Relationship Type="http://schemas.openxmlformats.org/officeDocument/2006/relationships/notesMaster" Target="/ppt/notesMasters/notesMaster1.xml" Id="R283dd767869940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docs/experiment-report.md; latest local pytest output (68 passed).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docs/technical-decisions.md; docs/failure-analysis.md.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docs/technical-decisions.md.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src/rag_system/retrieval/retriever.py; src/rag_system/services/query.py.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docs/technical-decisions.md; src/rag_system/generation/answering.py; streamlit_app.py.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docs/experiment-report.md. The cited generation metrics are from the latest measured Gemini run; an earlier run had 63.64% citation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docs/failure-analysis.md; docs/demo-checklist.md; docs/experiment-report.md.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b1d126bc3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1c908c826f4e77" /><Relationship Type="http://schemas.openxmlformats.org/officeDocument/2006/relationships/slideLayout" Target="/ppt/slideLayouts/slideLayout1.xml" Id="Rad23ee654afe47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3ee654afe47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4c0638f8b4694" /><Relationship Type="http://schemas.openxmlformats.org/officeDocument/2006/relationships/notesSlide" Target="/ppt/notesSlides/notesSlide1.xml" Id="Rf6cad8b4db2841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fb6ab2584406f" /><Relationship Type="http://schemas.openxmlformats.org/officeDocument/2006/relationships/notesSlide" Target="/ppt/notesSlides/notesSlide2.xml" Id="Rc996dfb39a7a4c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e7b9ae1f64153" /><Relationship Type="http://schemas.openxmlformats.org/officeDocument/2006/relationships/notesSlide" Target="/ppt/notesSlides/notesSlide3.xml" Id="Rd157dffb71fc4e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e2d839516431e" /><Relationship Type="http://schemas.openxmlformats.org/officeDocument/2006/relationships/notesSlide" Target="/ppt/notesSlides/notesSlide4.xml" Id="R5473f49dca2a44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72e351b044ca2" /><Relationship Type="http://schemas.openxmlformats.org/officeDocument/2006/relationships/notesSlide" Target="/ppt/notesSlides/notesSlide5.xml" Id="R5df95e00d9a7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16531681c44ab" /><Relationship Type="http://schemas.openxmlformats.org/officeDocument/2006/relationships/notesSlide" Target="/ppt/notesSlides/notesSlide6.xml" Id="R5e9385e983a7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641fdc5134dc7" /><Relationship Type="http://schemas.openxmlformats.org/officeDocument/2006/relationships/notesSlide" Target="/ppt/notesSlides/notesSlide7.xml" Id="Rf17eb9741a35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889fa4ca74856" /><Relationship Type="http://schemas.openxmlformats.org/officeDocument/2006/relationships/notesSlide" Target="/ppt/notesSlides/notesSlide8.xml" Id="R2701a961c3cb41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CDAA9-C522-404F-BE73-A7ED3915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FinanceBench Grounded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87EA1-6952-4E82-A713-0B3A5D0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E5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8E5FF"/>
                </a:solidFill>
                <a:latin typeface="Arial"/>
                <a:ea typeface="Arial"/>
                <a:cs typeface="Arial"/>
              </a:rPr>
              <a:t>Financial filing question answering with source-linked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85417-7F5A-438E-BE5E-C746F2A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2895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Interview review and 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25D6A-83DB-4416-AEFD-245FD8C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6D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6D8"/>
                </a:solidFill>
                <a:latin typeface="Arial"/>
                <a:ea typeface="Arial"/>
                <a:cs typeface="Arial"/>
              </a:rPr>
              <a:t>Local retrieval • hybrid search • citation validation • safe abstention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45A4F-54C3-472E-BE0C-86E73B31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2428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68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71616-BE60-47C2-9567-21F86A0B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2971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11/11 filing retrieval</a:t>
            </a:r>
          </a:p>
        </p:txBody>
      </p:sp>
    </p:spTree>
    <p:extLst>
      <p:ext uri="{BB962C8B-B14F-4D97-AF65-F5344CB8AC3E}">
        <p14:creationId xmlns:p14="http://schemas.microsoft.com/office/powerpoint/2010/main" val="846071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D673E-E646-4808-A030-0367062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Problem and design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887FA-D429-41AF-BF84-5D85EAA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9BC41-CFE0-4621-A845-EBBD8A20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5526F-EF7E-424D-A8DD-002BADF9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D0BE2-72C1-4C83-AE73-83A849C0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714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How can a user ask a financial question and receive a concise answer that is traceable to the relevant filing and PDF page?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59E62-6A1A-49AF-B3FF-52964A29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Design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32264-84DB-4091-BF36-3E91C197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476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Work from local FinanceBench filings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Route company, year, and quarter questions to the right filing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Retrieve table rows as well as narrative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Require explicit source citations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Abstain when evidence is absent or uncited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01633-3C22-4803-ACC5-A85D2B30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Primary principle: evidence precedes generation</a:t>
            </a:r>
          </a:p>
        </p:txBody>
      </p:sp>
    </p:spTree>
    <p:extLst>
      <p:ext uri="{BB962C8B-B14F-4D97-AF65-F5344CB8AC3E}">
        <p14:creationId xmlns:p14="http://schemas.microsoft.com/office/powerpoint/2010/main" val="1224682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72C9D-F082-4EE2-ABCE-E9E482D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Architecture and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F71A9-6776-4EBD-841E-A0AF0BE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33FE9-AEE9-425C-A934-624211F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317D0-65B8-4711-9A63-5D4A52E2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FinanceBench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 / TXT / Markdown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4DDA0-B4FD-4307-914D-0CFC4B0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146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9B580-0F4B-45C2-9DA3-6A0471C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Parse + preserve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508C0-6BC8-43A7-8EAE-EFCA0D97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146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A1EB-BF0C-4507-8F7C-212343F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Fixed-token chunks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 tokens, 40 overlap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00DA6-6A16-454D-B9BF-DD28260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146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2186D-F94C-48CA-8803-4D693882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MiniLM local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A1AC7-CE49-4D4E-9AC9-9CE88A01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146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0A6F3-A77E-4076-AFCB-5B2C5181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vectors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FTS5/BM25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67FAD-A8D8-4905-B9D5-40A1BA78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146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0378D-9CEB-45F5-AD5C-91160E7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reranking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35E35-83CD-449B-B0F4-4A692369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146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A51A1-AE08-46A3-B161-21C71A0F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67000"/>
            <a:ext cx="1381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Gemini answer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citations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92AA5-45A9-4AD2-B3B9-80F0E53A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Every chunk keeps the document name, page number, section, and position. The answer layer receives only retrieved evidence, not the full corpus.</a:t>
            </a:r>
          </a:p>
        </p:txBody>
      </p:sp>
    </p:spTree>
    <p:extLst>
      <p:ext uri="{BB962C8B-B14F-4D97-AF65-F5344CB8AC3E}">
        <p14:creationId xmlns:p14="http://schemas.microsoft.com/office/powerpoint/2010/main" val="500261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580E4-3129-4EA6-A20A-A274E321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Why these technical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F4D6F-BFE3-4429-95F2-94C1EF1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AA73C-BBB8-46D1-B10C-E9471FE1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DCE62-5E3B-40E9-9BC0-CBD46F3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57300"/>
            <a:ext cx="3000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62D06-6CF0-4EA0-A559-2447697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573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Reason for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4DBFD-8424-4B0C-A622-1464407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38300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all-MiniLM-L6-v2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DF27E-F977-471E-8D20-2510D945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38300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Local 384-dimensional embeddings with no embedding API dependency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9CD4C-908F-4EF8-8D4E-5591BA0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SQLite + FTS5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DE548-7985-429F-8E75-D0454ED1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One reproducible local store for vectors, text, metadata, and BM25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AC1C6-51E9-4ED6-AE98-C745F42D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200 / 40 chunking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4611E-D187-47CB-BC29-C54F16C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Controlled context windows with overlap across page and table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80DD2-CF85-4050-A9CA-C39E3993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67150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Hybrid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907D0-7CFD-4E55-BECE-5E5B7DA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67150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Dense search captures meaning; BM25 preserves exact financial terms and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EA43E-078D-4209-AA75-1307291A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300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Citation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D4700-1608-408F-A866-E135DC1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0100"/>
            <a:ext cx="666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UI shows a supported answer only when the model cites a retrieved source</a:t>
            </a:r>
          </a:p>
        </p:txBody>
      </p:sp>
    </p:spTree>
    <p:extLst>
      <p:ext uri="{BB962C8B-B14F-4D97-AF65-F5344CB8AC3E}">
        <p14:creationId xmlns:p14="http://schemas.microsoft.com/office/powerpoint/2010/main" val="669365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475B7-95EF-4F9C-BCC1-F3512BE3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happens when a user asks a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3989A-9937-4386-8567-6386674C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F31F-FA44-4E40-9BA6-0D47F2C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BAA5D-9BC7-49BA-89A1-54B8C25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"/>
            <a:ext cx="57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253B0-E8C5-4633-86A8-8B050C7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6682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Validate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46102-7C1D-4DAF-A13A-5BD5D0FB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5D6B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1BC7-A032-457C-B2D2-EC77A569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57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EE1B6-855D-45FB-9C71-9E0E6443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Identify company, year, and quarter when unambiguous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F6FBE-5BBE-4AB0-8297-AC78A90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5D6B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F0CBA-8859-4D48-8EC0-E14235B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5575"/>
            <a:ext cx="57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D4840-5F0A-4A00-9AC0-5ADEE961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Expand generic financial terminology for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28B6E-3FE0-49FD-BD13-C9532CA3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5D6B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05D19-BB24-4F91-95F6-5B55ED17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57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1A6B0-A599-4287-8007-855B1CCA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Run dense cosine and FTS5/BM25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9BA8A-E266-40BE-ACBB-04BCE94F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5D6B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395D1-2B36-45FA-BD8E-FEF832C9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57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32BEA-3AD3-4D65-9641-44FC70C1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8622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Fuse ranks, rerank table evidence, add neighbors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FCB87-6FA8-4CC8-B92A-2EA494E0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5D6B7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E6133-528E-4ECF-890F-765939B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7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9DEF7-B151-4E3D-86B2-CE233DD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Generate a cited answer or return INSUFFICIENT_CONTEXT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BA8E7-DC88-4D01-B058-DF93E41B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67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Example: “capital expenditure” expands to property-and-equipment purchase terminology for retrieval.</a:t>
            </a:r>
          </a:p>
        </p:txBody>
      </p:sp>
    </p:spTree>
    <p:extLst>
      <p:ext uri="{BB962C8B-B14F-4D97-AF65-F5344CB8AC3E}">
        <p14:creationId xmlns:p14="http://schemas.microsoft.com/office/powerpoint/2010/main" val="850279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DE1B9-7546-40A0-A1BD-002CAA5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Grounding, citations, and safe abstention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DD161-7380-49BA-9FBC-0DE302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5798E-CA8B-47B4-8674-A86325C8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CBBAE-5C61-4333-A443-AAD8B6A9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3333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Retrieved chunks</a:t>
            </a:r>
          </a:p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labelled [S1], [S2] 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39274-5878-4B31-A48A-630F769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00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Gemini receives only</a:t>
            </a:r>
          </a:p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evidence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CA99-312A-40B5-B8CD-6ECF9C4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333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677C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Citation validation</a:t>
            </a:r>
          </a:p>
          <a:p xmlns:a="http://schemas.openxmlformats.org/drawingml/2006/main">
            <a:pPr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checks [S#]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2647B-5DE5-4CE9-88C1-183F96A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1932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B984F-E21F-4B23-A44B-24C1603E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19325"/>
            <a:ext cx="1714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77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FC87A-32B3-42FE-954B-EE2CD00D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Valid citation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5ED19-C7B1-4D8D-8E2D-25FC58BF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Show answer and a link that opens the local PDF at the cited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54C1F-CFCA-439D-9301-5EBE39DD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No evidence or no valid citation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1D6A6-7024-4A96-A77B-CF7DED0F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Return INSUFFICIENT_CONTEXT rather than present an unsupported answer.</a:t>
            </a:r>
          </a:p>
        </p:txBody>
      </p:sp>
    </p:spTree>
    <p:extLst>
      <p:ext uri="{BB962C8B-B14F-4D97-AF65-F5344CB8AC3E}">
        <p14:creationId xmlns:p14="http://schemas.microsoft.com/office/powerpoint/2010/main" val="915461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76ABD-AB09-4DD6-88A6-F468843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Evaluation results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E02F3-DF16-465E-B0EA-5715F58D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14301-B11D-475F-A45F-599DDA9B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6D8F2-1326-402F-A2AA-50DEBAD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9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Fixed 11-case FinanceBench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4208B-9605-4EEA-8761-AB324FC0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Expected-filing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F8423-980A-4E66-A2F6-97634A4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D79C6-F630-4A52-A305-C785C10A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935D2-1B0F-43A5-887A-CCA1491D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Answer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0039B-FCF4-4C00-9E88-B0DB212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45.45%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D2F72-78C0-4990-AA0A-B556C59A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5 /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2B218-F65D-4B23-AC21-28C9BFB3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Citation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BC606-4B83-4106-AD78-E00DA2C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54.55%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444D8-3CC4-4362-90A4-06FA2CD8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6 / 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FFD2C-9361-42AC-93AF-E2CD12B3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Grounding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4B860-5845-48F9-BBEA-083C1039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D40B9-2B24-4B26-AAD9-044CEEFF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60757-8657-4984-A204-8CDC097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812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How to read the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Retrieval reliably finds the right filing. The remaining gap is exact financial-table row extraction and citation selection.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CE86B-46EC-4132-B36A-C6014FE2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19625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Do not combine these metrics: document retrieval is not the same as answer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907754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C3234-5239-460A-8566-E975A12F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Limitations, roadmap, and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B24AB-68FE-400C-9FF6-52E0D475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29F7-CF87-4B95-90B9-5A625DAF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5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FinanceBench RAG  |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7597-5EB2-4030-A7DE-5F2CD6E9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Current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16B7B-F4C8-4AFC-A232-C5CEFC62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Some correct filings contain tables where row labels, year headers, units, and values span multiple extracted chunks. The model may safely abstain instead of extracting the exact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DB100-1FB7-4D47-9DEB-6D55B9EF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7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C8"/>
                </a:solidFill>
                <a:latin typeface="Arial"/>
                <a:ea typeface="Arial"/>
                <a:cs typeface="Arial"/>
              </a:rPr>
              <a:t>Next measured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5289C-7B9A-4818-8D92-78D169A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Cross-encoder reranker for wider hybrid candidates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Table-aware extraction that keeps row, header, unit, and value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Page and answer-row recall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B938C-A52C-463C-8723-B38F5D8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Live demo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8CB3B-51F1-473D-8ACA-DF5E7469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1. Ask a validated financial-table question.  2. Open the cited PDF page.  3. Ask a quarter-specific JPMorgan question.  4. Ask an unsupported question to show safe abstention.</a:t>
            </a:r>
          </a:p>
        </p:txBody>
      </p:sp>
    </p:spTree>
    <p:extLst>
      <p:ext uri="{BB962C8B-B14F-4D97-AF65-F5344CB8AC3E}">
        <p14:creationId xmlns:p14="http://schemas.microsoft.com/office/powerpoint/2010/main" val="884769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2026-09-24T14:30:12.1540000Z</dcterms:created>
  <dcterms:modified xsi:type="dcterms:W3CDTF">2026-09-24T14:30:12.1540000Z</dcterms:modified>
</coreProperties>
</file>